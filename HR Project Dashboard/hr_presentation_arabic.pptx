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C4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C44"/>
                </a:solidFill>
                <a:latin typeface="Arial"/>
              </a:rPr>
              <a:t>توزيع مستويات الأداء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الأداء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C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ممتاز</c:v>
                  </c:pt>
                  <c:pt idx="1">
                    <c:v>جيد جداً</c:v>
                  </c:pt>
                  <c:pt idx="2">
                    <c:v>جيد</c:v>
                  </c:pt>
                  <c:pt idx="3">
                    <c:v>مقبول</c:v>
                  </c:pt>
                  <c:pt idx="4">
                    <c:v>ضعيف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263</c:v>
                </c:pt>
                <c:pt idx="1">
                  <c:v>410</c:v>
                </c:pt>
                <c:pt idx="2">
                  <c:v>380</c:v>
                </c:pt>
                <c:pt idx="3">
                  <c:v>290</c:v>
                </c:pt>
                <c:pt idx="4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C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C4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C44"/>
                </a:solidFill>
                <a:latin typeface="Arial"/>
              </a:rPr>
              <a:t>التوزيع العمري للقوى العاملة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التوزيع العمري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50+ سنة</c:v>
                </c:pt>
                <c:pt idx="1">
                  <c:v>40-50 سنة</c:v>
                </c:pt>
                <c:pt idx="2">
                  <c:v>30-40 سنة</c:v>
                </c:pt>
                <c:pt idx="3">
                  <c:v>أقل من 30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35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2C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A3A6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731520"/>
            <a:ext cx="2286000" cy="2286000"/>
          </a:xfrm>
          <a:prstGeom prst="ellipse">
            <a:avLst/>
          </a:prstGeom>
          <a:solidFill>
            <a:srgbClr val="2E86C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2743200"/>
            <a:ext cx="1828800" cy="1828800"/>
          </a:xfrm>
          <a:prstGeom prst="ellipse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23960" y="109728"/>
            <a:ext cx="320040" cy="5033772"/>
          </a:xfrm>
          <a:prstGeom prst="rect">
            <a:avLst/>
          </a:prstGeom>
          <a:solidFill>
            <a:srgbClr val="2E86C1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63040"/>
            <a:ext cx="320040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ANALYTICS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تقرير تحليل الموارد البشرية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i="1" dirty="0">
                <a:solidFill>
                  <a:srgbClr val="A8C8E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رؤى قائمة على البيانات وقرارات استراتيجية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4114800"/>
            <a:ext cx="8503920" cy="777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2024  |  تحليل استراتيجي للموارد البشرية  |  سري وخاص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محمد أشرف جاد  —  استشاري التحول الرقمي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فهرس المحتويات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109728" cy="7772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005840"/>
            <a:ext cx="640080" cy="7772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0058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0789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نظرة عامة على الموظفين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Overview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65960"/>
            <a:ext cx="109728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1965960"/>
            <a:ext cx="640080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9659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20391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الأداء والترقيات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3774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Promotions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2926080"/>
            <a:ext cx="640080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2926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29992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التركيبة السكانية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337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Demographics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86200"/>
            <a:ext cx="109728" cy="777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886200"/>
            <a:ext cx="640080" cy="777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8862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71600" y="395935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الملخص التنفيذي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2976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1B3E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نظرة عامة على الموظفين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رؤى • توصيات • بيانات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المؤشرات الرئيسية — نظرة عامة على الموظفين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|  Key Metrics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68680"/>
            <a:ext cx="1920240" cy="1097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سنة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العمر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8686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868680"/>
            <a:ext cx="19202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89K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51460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$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الراتب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868680"/>
            <a:ext cx="192024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عدد الأقسام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8686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868680"/>
            <a:ext cx="1920240" cy="10972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72084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سنة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الخبرة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الرؤى الاستراتيجية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8229600" cy="45720"/>
          </a:xfrm>
          <a:prstGeom prst="rect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2926080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96528" y="2926080"/>
            <a:ext cx="118872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971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القوى العاملة كبيرة في السن — خبرة قوية لكن مقاومة محتملة للتغيير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2926080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98848" y="2926080"/>
            <a:ext cx="118872" cy="6858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971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نقص واضح في الكوادر الشبابية وضرورة حقن دماء جديدة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749040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96528" y="3749040"/>
            <a:ext cx="118872" cy="685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794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تكدس ملحوظ في بعض الأقسام يستدعي إعادة توزيع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3749040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98848" y="3749040"/>
            <a:ext cx="118872" cy="685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794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توازن جيد بين الجنسين يعكس ثقافة مؤسسية إيجابية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  |  القسم الأول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التوصيات الاستراتيجية — نظرة عامة على الموظفين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|  Strategic Recommendations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89611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896112"/>
            <a:ext cx="4206240" cy="1097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Shape 6"/>
          <p:cNvSpPr/>
          <p:nvPr/>
        </p:nvSpPr>
        <p:spPr>
          <a:xfrm>
            <a:off x="4800600" y="1078992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5819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توظيف الكوادر الشبابية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9476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استهداف الفئة العمرية 22–30 سنة لتجديد طاقة المؤسسة وبناء قاعدة مستدامة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89611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896112"/>
            <a:ext cx="42062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078992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15819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مهني واضح (Career Path)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19476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بناء خرائط مهنية محددة لكل قسم تتضمن أهداف وترقيات ومكافآت مرتبطة بالأداء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1635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16352"/>
            <a:ext cx="420624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99923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5021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إعادة توزيع الموظفين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8679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معالجة التكدس في الأقسام المشبعة ونقل الكفاءات للأقسام ذات الاحتياج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16352"/>
            <a:ext cx="4206240" cy="10972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999232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5021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تطوير المهارات (Upskilling)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8679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برامج تدريبية متخصصة للكوادر الحالية لمواكبة التحول الرقمي ومتطلبات السوق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  |  القسم الأول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7AE6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الأداء والترقيات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Promotions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رؤى • توصيات • بيانات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المؤشرات الرئيسية — الأداء والترقيات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|  Key Metrics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5727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1572768" cy="914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601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الأداء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3392" y="868680"/>
            <a:ext cx="15727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868680"/>
            <a:ext cx="1572768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9601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993392" y="17373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موظف متميز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12464" y="868680"/>
            <a:ext cx="15727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868680"/>
            <a:ext cx="1572768" cy="914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3712464" y="9601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712464" y="17373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ترقية مُنجزة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31536" y="868680"/>
            <a:ext cx="15727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31536" y="868680"/>
            <a:ext cx="1572768" cy="91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431536" y="9601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31536" y="17373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ساعة إضافية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50608" y="868680"/>
            <a:ext cx="15727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50608" y="868680"/>
            <a:ext cx="1572768" cy="914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7150608" y="9601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50608" y="17373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نسبة الحضور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2331720"/>
          <a:ext cx="47548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5166360" y="2331720"/>
            <a:ext cx="3703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166360" y="2331720"/>
            <a:ext cx="3703320" cy="914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 26"/>
          <p:cNvSpPr/>
          <p:nvPr/>
        </p:nvSpPr>
        <p:spPr>
          <a:xfrm>
            <a:off x="5257800" y="2423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الرؤى الاستراتيجية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686800" y="2926080"/>
            <a:ext cx="9144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8"/>
          <p:cNvSpPr/>
          <p:nvPr/>
        </p:nvSpPr>
        <p:spPr>
          <a:xfrm>
            <a:off x="5257800" y="28803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أداء متوسط يُشير إلى الحاجة لتحسين منهجي شامل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686800" y="3429000"/>
            <a:ext cx="9144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0"/>
          <p:cNvSpPr/>
          <p:nvPr/>
        </p:nvSpPr>
        <p:spPr>
          <a:xfrm>
            <a:off x="5257800" y="3383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Overtime مرتفع — يُشكّل خطراً على الصحة والإنتاجية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686800" y="3931920"/>
            <a:ext cx="9144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5" name="Text 32"/>
          <p:cNvSpPr/>
          <p:nvPr/>
        </p:nvSpPr>
        <p:spPr>
          <a:xfrm>
            <a:off x="5257800" y="38862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خلل بين الرواتب ومستويات الأداء الفعلية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686800" y="4434840"/>
            <a:ext cx="91440" cy="3200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7" name="Text 34"/>
          <p:cNvSpPr/>
          <p:nvPr/>
        </p:nvSpPr>
        <p:spPr>
          <a:xfrm>
            <a:off x="5257800" y="43891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تباين واضح في الأداء بين الأقسام المختلفة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  |  القسم الثاني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التوصيات الاستراتيجية — الأداء والترقيات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|  Strategic Recommendations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89611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896112"/>
            <a:ext cx="4206240" cy="1097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4800600" y="1078992"/>
            <a:ext cx="77724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0789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عاجل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3990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تقليل ساعات العمل الإضافي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8562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وضع سياسة واضحة للحد من الـ Overtime وتوزيع الأعباء بشكل عادل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89611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896112"/>
            <a:ext cx="4206240" cy="1097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078992"/>
            <a:ext cx="77724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0789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مهم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3990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تقييم أداء متطور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18562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تبني منهجية OKRs أو Balanced Scorecard لتقييم موضوعي وشامل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1635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16352"/>
            <a:ext cx="42062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999232"/>
            <a:ext cx="77724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99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مهم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3192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ربط الرواتب بالأداء الفعلي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7764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إنشاء نظام مكافآت متغير يعكس الإسهام الحقيقي ويحفز التميز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16352"/>
            <a:ext cx="420624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999232"/>
            <a:ext cx="77724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999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3192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رفع معدل الحضور لـ 95%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7764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برامج تحفيز للحضور وتطبيق سياسات مرونة في العمل تقلل الغياب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  |  القسم الثاني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2743200"/>
            <a:ext cx="3657600" cy="3657600"/>
          </a:xfrm>
          <a:prstGeom prst="ellipse">
            <a:avLst/>
          </a:prstGeom>
          <a:solidFill>
            <a:srgbClr val="0D1B3E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E67E22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التركيبة السكانية للقوى العاملة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Demographics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رؤى • توصيات • بيانات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المؤشرات الرئيسية — التركيبة السكانية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|  Key Metrics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868680"/>
            <a:ext cx="109728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914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موظف كبير في السن (Senior)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إجمالي القوى العاملة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86868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868680"/>
            <a:ext cx="109728" cy="1417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914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0292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مواقع جغرافية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تغطية جغرافية محدودة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42316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480560" y="2423160"/>
            <a:ext cx="43891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80560" y="2423160"/>
            <a:ext cx="4389120" cy="914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0" y="2514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الرؤى الاستراتيجية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0" y="2971800"/>
            <a:ext cx="9144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0" y="2926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القوى العاملة تميل للشيخوخة — خطر على الاستدامة المؤسسية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0" y="3474720"/>
            <a:ext cx="9144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3429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التوسع الجغرافي محدود — فرصة للنمو غير مستغلة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686800" y="3977640"/>
            <a:ext cx="9144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تفاوت ملحوظ في الرواتب بين المواقع والمستويات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686800" y="4480560"/>
            <a:ext cx="914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0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مستوى تعليمي مرتفع — رأس مال بشري ذو قيمة عالية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  |  القسم الثالث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التوصيات الاستراتيجية — التركيبة السكانية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|  Strategic Recommendations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89611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896112"/>
            <a:ext cx="4206240" cy="1097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Shape 6"/>
          <p:cNvSpPr/>
          <p:nvPr/>
        </p:nvSpPr>
        <p:spPr>
          <a:xfrm>
            <a:off x="4800600" y="1078992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5819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التوسع الجغرافي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9476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استكشاف مواقع جديدة لتوسيع التغطية وجذب مواهب متنوعة من أسواق مختلفة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89611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896112"/>
            <a:ext cx="42062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078992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15819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توازن هيكل الرواتب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19476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شاملة لسلم الرواتب وتوحيد المعايير للقضاء على التفاوتات الحالية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1635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16352"/>
            <a:ext cx="420624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99923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5021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تخفيف الضغط الوظيفي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8679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برامج Well-being والصحة النفسية لرفع الرضا الوظيفي وخفض معدلات الانتقال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16352"/>
            <a:ext cx="4206240" cy="10972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999232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5021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C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تخطيط التعاقب (Succession Planning)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8679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القيادات المستقبلية ومسارات التطوير لضمان الاستمرارية المؤسسية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2024  |  القسم الثالث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1A3A6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2E86C1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الملخص التنفيذي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0A50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أهم 10 قرارات استراتيجية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F0A500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23444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234440"/>
            <a:ext cx="73152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Shape 8"/>
          <p:cNvSpPr/>
          <p:nvPr/>
        </p:nvSpPr>
        <p:spPr>
          <a:xfrm>
            <a:off x="4736592" y="1234440"/>
            <a:ext cx="502920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1234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2801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تقليل Overtime فورًا وضبط أعباء العمل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965960"/>
            <a:ext cx="73152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6592" y="1965960"/>
            <a:ext cx="502920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9659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011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تبني نظام تحسين الأداء المؤسسي الشامل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2697480"/>
            <a:ext cx="73152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36592" y="2697480"/>
            <a:ext cx="502920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26974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7432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توظيف كوادر شبابية (22–30 سنة) بشكل منظم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42900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429000"/>
            <a:ext cx="73152" cy="594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736592" y="3429000"/>
            <a:ext cx="502920" cy="594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34290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4747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وتحسين هيكل الرواتب والمكافآت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416052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416052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736592" y="4160520"/>
            <a:ext cx="50292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41605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4206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رفع معدلات الحضور إلى 95% عبر التحفيز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123444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1234440"/>
            <a:ext cx="73152" cy="5943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912" y="1234440"/>
            <a:ext cx="502920" cy="5943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1234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840" y="12801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تطوير الأقسام الضعيفة وتعزيز قدراتها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196596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" y="1965960"/>
            <a:ext cx="73152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0" name="Shape 38"/>
          <p:cNvSpPr/>
          <p:nvPr/>
        </p:nvSpPr>
        <p:spPr>
          <a:xfrm>
            <a:off x="438912" y="1965960"/>
            <a:ext cx="502920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12" y="19659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5840" y="2011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تطبيق خطط التعاقب الوظيفي (Succession Planning)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269748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4" name="Shape 42"/>
          <p:cNvSpPr/>
          <p:nvPr/>
        </p:nvSpPr>
        <p:spPr>
          <a:xfrm>
            <a:off x="365760" y="2697480"/>
            <a:ext cx="73152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Shape 43"/>
          <p:cNvSpPr/>
          <p:nvPr/>
        </p:nvSpPr>
        <p:spPr>
          <a:xfrm>
            <a:off x="438912" y="2697480"/>
            <a:ext cx="502920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438912" y="26974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5840" y="27432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استراتيجيات الاحتفاظ بالمواهب (Retention)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342900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9" name="Shape 47"/>
          <p:cNvSpPr/>
          <p:nvPr/>
        </p:nvSpPr>
        <p:spPr>
          <a:xfrm>
            <a:off x="365760" y="342900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0" name="Shape 48"/>
          <p:cNvSpPr/>
          <p:nvPr/>
        </p:nvSpPr>
        <p:spPr>
          <a:xfrm>
            <a:off x="438912" y="3429000"/>
            <a:ext cx="50292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438912" y="34290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05840" y="34747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إعادة توزيع الموظفين لتحقيق التوازن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4160520"/>
            <a:ext cx="416052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4160520"/>
            <a:ext cx="73152" cy="594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5" name="Shape 53"/>
          <p:cNvSpPr/>
          <p:nvPr/>
        </p:nvSpPr>
        <p:spPr>
          <a:xfrm>
            <a:off x="438912" y="4160520"/>
            <a:ext cx="502920" cy="594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6" name="Text 54"/>
          <p:cNvSpPr/>
          <p:nvPr/>
        </p:nvSpPr>
        <p:spPr>
          <a:xfrm>
            <a:off x="438912" y="41605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005840" y="4206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التوسع الجغرافي لاستقطاب كفاءات جديدة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الموارد البشرية  |  الملخص التنفيذي  |  2024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1A3A6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2E86C1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3200400"/>
            <a:ext cx="2286000" cy="2286000"/>
          </a:xfrm>
          <a:prstGeom prst="ellipse">
            <a:avLst/>
          </a:prstGeom>
          <a:solidFill>
            <a:srgbClr val="F0A50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شكراً لاهتمامكم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1508760"/>
            <a:ext cx="274320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تم إعداد هذا التقرير بواسطة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2103120"/>
            <a:ext cx="4572000" cy="19202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2103120"/>
            <a:ext cx="457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Shape 9"/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م.أ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0" y="2788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محمد أشرف جاد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77440" y="3246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استشاري التحول الرقمي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8C8E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مهندس ذكاء الأعمال وتجربة المستخدم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جميع الحقوق محفوظة  |  2024  |  تحليل الموارد البشرية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تحليل الموارد البشرية</dc:title>
  <dc:subject>PptxGenJS Presentation</dc:subject>
  <dc:creator>Mohamed Ashraf Gad</dc:creator>
  <cp:lastModifiedBy>Mohamed Ashraf Gad</cp:lastModifiedBy>
  <cp:revision>1</cp:revision>
  <dcterms:created xsi:type="dcterms:W3CDTF">2026-04-02T19:33:53Z</dcterms:created>
  <dcterms:modified xsi:type="dcterms:W3CDTF">2026-04-02T19:33:53Z</dcterms:modified>
</cp:coreProperties>
</file>